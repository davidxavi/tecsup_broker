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828800"/>
            <a:ext cx="12191695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C9D1D9"/>
                </a:solidFill>
              </a:defRPr>
            </a:pPr>
            <a:r>
              <a:t>Broker de Mensajería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0">
                <a:solidFill>
                  <a:srgbClr val="8B949E"/>
                </a:solidFill>
              </a:defRPr>
            </a:pPr>
            <a:r>
              <a:t>Construido desde Cero</a:t>
            </a:r>
          </a:p>
          <a:p>
            <a:pPr>
              <a:spcAft>
                <a:spcPts val="400"/>
              </a:spcAft>
              <a:defRPr sz="2000" b="0">
                <a:solidFill>
                  <a:srgbClr val="8B949E"/>
                </a:solidFill>
              </a:defRPr>
            </a:pPr>
            <a:r>
              <a:t>Arquitectura Cliente-Servidor con Patrón Publicador-Suscriptor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233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58A6FF"/>
                </a:solidFill>
              </a:defRPr>
            </a:pPr>
            <a:r>
              <a:t>Curso de Arquitectura de Software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9377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3FB950"/>
                </a:solidFill>
              </a:defRPr>
            </a:pPr>
            <a:r>
              <a:t>Gerónimo Jara Javier</a:t>
            </a:r>
          </a:p>
          <a:p>
            <a:pPr>
              <a:spcAft>
                <a:spcPts val="400"/>
              </a:spcAft>
              <a:defRPr sz="1600" b="0">
                <a:solidFill>
                  <a:srgbClr val="3FB950"/>
                </a:solidFill>
              </a:defRPr>
            </a:pPr>
            <a:r>
              <a:t>Jurado Flores Juan Diego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C9D1D9"/>
                </a:solidFill>
              </a:defRPr>
            </a:pPr>
            <a:r>
              <a:t>El problema que resolvemos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8B949E"/>
                </a:solidFill>
              </a:defRPr>
            </a:pPr>
            <a:r>
              <a:t>Comunicación entre servicios sin un intermediario = CAOS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49E"/>
                </a:solidFill>
              </a:defRPr>
            </a:pPr>
            <a:r>
              <a:t>Broker de Mensajería — Arquitectura de Software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B949E"/>
                </a:solidFill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029200" cy="38404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rtlCol="0" anchor="ctr"/>
          <a:lstStyle/>
          <a:p>
            <a:pPr algn="ctr">
              <a:defRPr sz="1400">
                <a:solidFill>
                  <a:srgbClr val="F85149"/>
                </a:solidFill>
              </a:defRPr>
            </a:pPr>
            <a:r>
              <a:t>Sin broker (punto a punto)</a:t>
            </a:r>
          </a:p>
          <a:p>
            <a:pPr>
              <a:defRPr sz="1400">
                <a:solidFill>
                  <a:srgbClr val="F85149"/>
                </a:solidFill>
              </a:defRPr>
            </a:pPr>
            <a:endParaRPr/>
          </a:p>
          <a:p>
            <a:pPr>
              <a:defRPr sz="1400">
                <a:solidFill>
                  <a:srgbClr val="F85149"/>
                </a:solidFill>
              </a:defRPr>
            </a:pPr>
            <a:r>
              <a:t>Servicio A → Servicio B</a:t>
            </a:r>
          </a:p>
          <a:p>
            <a:pPr>
              <a:defRPr sz="1400">
                <a:solidFill>
                  <a:srgbClr val="F85149"/>
                </a:solidFill>
              </a:defRPr>
            </a:pPr>
            <a:r>
              <a:t>Servicio A → Servicio C</a:t>
            </a:r>
          </a:p>
          <a:p>
            <a:pPr>
              <a:defRPr sz="1400">
                <a:solidFill>
                  <a:srgbClr val="F85149"/>
                </a:solidFill>
              </a:defRPr>
            </a:pPr>
            <a:r>
              <a:t>Servicio A → Servicio D</a:t>
            </a:r>
          </a:p>
          <a:p>
            <a:pPr>
              <a:defRPr sz="1400">
                <a:solidFill>
                  <a:srgbClr val="F85149"/>
                </a:solidFill>
              </a:defRPr>
            </a:pPr>
            <a:r>
              <a:t>Servicio B → Servicio E</a:t>
            </a:r>
          </a:p>
          <a:p>
            <a:pPr>
              <a:defRPr sz="1400">
                <a:solidFill>
                  <a:srgbClr val="F85149"/>
                </a:solidFill>
              </a:defRPr>
            </a:pPr>
            <a:endParaRPr/>
          </a:p>
          <a:p>
            <a:pPr>
              <a:defRPr sz="1400">
                <a:solidFill>
                  <a:srgbClr val="F85149"/>
                </a:solidFill>
              </a:defRPr>
            </a:pPr>
            <a:r>
              <a:t>Cada servicio conoce a todos los demás.</a:t>
            </a:r>
          </a:p>
          <a:p>
            <a:pPr>
              <a:defRPr sz="1400">
                <a:solidFill>
                  <a:srgbClr val="F85149"/>
                </a:solidFill>
              </a:defRPr>
            </a:pPr>
            <a:r>
              <a:t>Acoplamiento total. Imposible escalar.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45920"/>
            <a:ext cx="5029200" cy="38404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rtlCol="0" anchor="ctr"/>
          <a:lstStyle/>
          <a:p>
            <a:pPr algn="ctr">
              <a:defRPr sz="1400">
                <a:solidFill>
                  <a:srgbClr val="3FB950"/>
                </a:solidFill>
              </a:defRPr>
            </a:pPr>
            <a:r>
              <a:rPr dirty="0"/>
              <a:t>Con broker (pub/sub)</a:t>
            </a:r>
          </a:p>
          <a:p>
            <a:pPr>
              <a:defRPr sz="1400">
                <a:solidFill>
                  <a:srgbClr val="3FB950"/>
                </a:solidFill>
              </a:defRPr>
            </a:pPr>
            <a:endParaRPr dirty="0"/>
          </a:p>
          <a:p>
            <a:pPr>
              <a:defRPr sz="1400">
                <a:solidFill>
                  <a:srgbClr val="3FB950"/>
                </a:solidFill>
              </a:defRPr>
            </a:pPr>
            <a:r>
              <a:rPr dirty="0"/>
              <a:t>Servicio A → [BROKER] </a:t>
            </a:r>
            <a:r>
              <a:rPr lang="es-PE" dirty="0"/>
              <a:t> </a:t>
            </a:r>
            <a:r>
              <a:rPr dirty="0"/>
              <a:t>→ Servicio B</a:t>
            </a:r>
          </a:p>
          <a:p>
            <a:pPr lvl="2">
              <a:defRPr sz="1400">
                <a:solidFill>
                  <a:srgbClr val="3FB950"/>
                </a:solidFill>
              </a:defRPr>
            </a:pPr>
            <a:r>
              <a:rPr dirty="0"/>
              <a:t>                    → Servicio C</a:t>
            </a:r>
          </a:p>
          <a:p>
            <a:pPr lvl="2">
              <a:defRPr sz="1400">
                <a:solidFill>
                  <a:srgbClr val="3FB950"/>
                </a:solidFill>
              </a:defRPr>
            </a:pPr>
            <a:r>
              <a:rPr dirty="0"/>
              <a:t>                    → Servicio D</a:t>
            </a:r>
          </a:p>
          <a:p>
            <a:pPr>
              <a:defRPr sz="1400">
                <a:solidFill>
                  <a:srgbClr val="3FB950"/>
                </a:solidFill>
              </a:defRPr>
            </a:pPr>
            <a:endParaRPr dirty="0"/>
          </a:p>
          <a:p>
            <a:pPr>
              <a:defRPr sz="1400">
                <a:solidFill>
                  <a:srgbClr val="3FB950"/>
                </a:solidFill>
              </a:defRPr>
            </a:pPr>
            <a:r>
              <a:rPr dirty="0"/>
              <a:t>A solo </a:t>
            </a:r>
            <a:r>
              <a:rPr dirty="0" err="1"/>
              <a:t>conoce</a:t>
            </a:r>
            <a:r>
              <a:rPr dirty="0"/>
              <a:t> al broker.</a:t>
            </a:r>
          </a:p>
          <a:p>
            <a:pPr>
              <a:defRPr sz="1400">
                <a:solidFill>
                  <a:srgbClr val="3FB950"/>
                </a:solidFill>
              </a:defRPr>
            </a:pPr>
            <a:r>
              <a:rPr dirty="0"/>
              <a:t>B, C, D solo </a:t>
            </a:r>
            <a:r>
              <a:rPr dirty="0" err="1"/>
              <a:t>conocen</a:t>
            </a:r>
            <a:r>
              <a:rPr dirty="0"/>
              <a:t> al broker.</a:t>
            </a:r>
          </a:p>
          <a:p>
            <a:pPr>
              <a:defRPr sz="1400">
                <a:solidFill>
                  <a:srgbClr val="3FB950"/>
                </a:solidFill>
              </a:defRPr>
            </a:pPr>
            <a:r>
              <a:rPr dirty="0" err="1"/>
              <a:t>Desacoplamiento</a:t>
            </a:r>
            <a:r>
              <a:rPr dirty="0"/>
              <a:t> total.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60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D2991D"/>
                </a:solidFill>
              </a:defRPr>
            </a:pPr>
            <a:r>
              <a:t>Beneficio clave: DESACOPLAMIENTO. El que envía no sabe quién recibe. El que recibe no sabe quién envió.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C9D1D9"/>
                </a:solidFill>
              </a:defRPr>
            </a:pPr>
            <a:r>
              <a:t>Arquitectura general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8B949E"/>
                </a:solidFill>
              </a:defRPr>
            </a:pPr>
            <a:r>
              <a:t>Tres protagonistas: Publishers, Broker y Subscribers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49E"/>
                </a:solidFill>
              </a:defRPr>
            </a:pPr>
            <a:r>
              <a:t>Broker de Mensajería — Arquitectura de Software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B949E"/>
                </a:solidFill>
              </a:defRPr>
            </a:pPr>
            <a:r>
              <a:t>3</a:t>
            </a:r>
          </a:p>
        </p:txBody>
      </p:sp>
      <p:pic>
        <p:nvPicPr>
          <p:cNvPr id="7" name="Picture 6" descr="mmdc_arquitec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1069848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C9D1D9"/>
                </a:solidFill>
              </a:defRPr>
            </a:pPr>
            <a:r>
              <a:t>¿Cómo hablan entre sí? — El protocolo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8B949E"/>
                </a:solidFill>
              </a:defRPr>
            </a:pPr>
            <a:r>
              <a:t>Formato de mensaje en el cable (wire format)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49E"/>
                </a:solidFill>
              </a:defRPr>
            </a:pPr>
            <a:r>
              <a:t>Broker de Mensajería — Arquitectura de Software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B949E"/>
                </a:solidFill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029200" cy="4389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rtlCol="0" anchor="ctr"/>
          <a:lstStyle/>
          <a:p>
            <a:pPr algn="ctr">
              <a:defRPr sz="1400">
                <a:solidFill>
                  <a:srgbClr val="C9D1D9"/>
                </a:solidFill>
              </a:defRPr>
            </a:pPr>
            <a:r>
              <a:rPr dirty="0"/>
              <a:t>Capa </a:t>
            </a:r>
            <a:r>
              <a:rPr dirty="0" err="1"/>
              <a:t>física</a:t>
            </a:r>
            <a:r>
              <a:rPr dirty="0"/>
              <a:t> — Wire format</a:t>
            </a:r>
          </a:p>
          <a:p>
            <a:pPr>
              <a:defRPr sz="1400">
                <a:solidFill>
                  <a:srgbClr val="C9D1D9"/>
                </a:solidFill>
              </a:defRPr>
            </a:pPr>
            <a:endParaRPr dirty="0"/>
          </a:p>
          <a:p>
            <a:pPr>
              <a:defRPr sz="1400">
                <a:solidFill>
                  <a:srgbClr val="C9D1D9"/>
                </a:solidFill>
              </a:defRPr>
            </a:pPr>
            <a:r>
              <a:rPr dirty="0"/>
              <a:t>┌──────────┬──────────────────────┐</a:t>
            </a:r>
          </a:p>
          <a:p>
            <a:pPr>
              <a:defRPr sz="1400">
                <a:solidFill>
                  <a:srgbClr val="C9D1D9"/>
                </a:solidFill>
              </a:defRPr>
            </a:pPr>
            <a:r>
              <a:rPr dirty="0"/>
              <a:t>│ 8 bytes  │      N bytes         │</a:t>
            </a:r>
          </a:p>
          <a:p>
            <a:pPr>
              <a:defRPr sz="1400">
                <a:solidFill>
                  <a:srgbClr val="C9D1D9"/>
                </a:solidFill>
              </a:defRPr>
            </a:pPr>
            <a:r>
              <a:rPr dirty="0"/>
              <a:t>│ 00000067 │  JSON (</a:t>
            </a:r>
            <a:r>
              <a:rPr dirty="0" err="1"/>
              <a:t>cmd</a:t>
            </a:r>
            <a:r>
              <a:rPr dirty="0"/>
              <a:t>, </a:t>
            </a:r>
            <a:r>
              <a:rPr dirty="0" err="1"/>
              <a:t>tpc</a:t>
            </a:r>
            <a:r>
              <a:rPr dirty="0"/>
              <a:t>, </a:t>
            </a:r>
            <a:r>
              <a:rPr dirty="0" err="1"/>
              <a:t>pld</a:t>
            </a:r>
            <a:r>
              <a:rPr dirty="0"/>
              <a:t>) │</a:t>
            </a:r>
          </a:p>
          <a:p>
            <a:pPr>
              <a:defRPr sz="1400">
                <a:solidFill>
                  <a:srgbClr val="C9D1D9"/>
                </a:solidFill>
              </a:defRPr>
            </a:pPr>
            <a:r>
              <a:rPr dirty="0"/>
              <a:t>│ </a:t>
            </a:r>
            <a:r>
              <a:rPr dirty="0" err="1"/>
              <a:t>longitud</a:t>
            </a:r>
            <a:r>
              <a:rPr dirty="0"/>
              <a:t> │                       │</a:t>
            </a:r>
          </a:p>
          <a:p>
            <a:pPr>
              <a:defRPr sz="1400">
                <a:solidFill>
                  <a:srgbClr val="C9D1D9"/>
                </a:solidFill>
              </a:defRPr>
            </a:pPr>
            <a:r>
              <a:rPr dirty="0"/>
              <a:t>└──────────┴──────────────────────┘</a:t>
            </a:r>
          </a:p>
          <a:p>
            <a:pPr>
              <a:defRPr sz="1400">
                <a:solidFill>
                  <a:srgbClr val="C9D1D9"/>
                </a:solidFill>
              </a:defRPr>
            </a:pPr>
            <a:endParaRPr dirty="0"/>
          </a:p>
          <a:p>
            <a:pPr>
              <a:defRPr sz="1400">
                <a:solidFill>
                  <a:srgbClr val="C9D1D9"/>
                </a:solidFill>
              </a:defRPr>
            </a:pPr>
            <a:r>
              <a:rPr dirty="0"/>
              <a:t>· </a:t>
            </a:r>
            <a:r>
              <a:rPr dirty="0" err="1"/>
              <a:t>Prefijo</a:t>
            </a:r>
            <a:r>
              <a:rPr dirty="0"/>
              <a:t> de 8 </a:t>
            </a:r>
            <a:r>
              <a:rPr dirty="0" err="1"/>
              <a:t>dígitos</a:t>
            </a:r>
            <a:r>
              <a:rPr dirty="0"/>
              <a:t>: </a:t>
            </a:r>
            <a:r>
              <a:rPr dirty="0" err="1"/>
              <a:t>sabés</a:t>
            </a:r>
            <a:r>
              <a:rPr dirty="0"/>
              <a:t> </a:t>
            </a:r>
            <a:r>
              <a:rPr dirty="0" err="1"/>
              <a:t>cuántos</a:t>
            </a:r>
            <a:r>
              <a:rPr dirty="0"/>
              <a:t> bytes leer</a:t>
            </a:r>
          </a:p>
          <a:p>
            <a:pPr>
              <a:defRPr sz="1400">
                <a:solidFill>
                  <a:srgbClr val="C9D1D9"/>
                </a:solidFill>
              </a:defRPr>
            </a:pPr>
            <a:r>
              <a:rPr dirty="0"/>
              <a:t>· Cuerpo JSON: legible</a:t>
            </a:r>
            <a:r>
              <a:rPr lang="es-MX" dirty="0"/>
              <a:t>siempre</a:t>
            </a:r>
            <a:r>
              <a:rPr dirty="0"/>
              <a:t>, </a:t>
            </a:r>
            <a:r>
              <a:rPr dirty="0" err="1"/>
              <a:t>fácil</a:t>
            </a:r>
            <a:r>
              <a:rPr dirty="0"/>
              <a:t> de </a:t>
            </a:r>
            <a:r>
              <a:rPr dirty="0" err="1"/>
              <a:t>debuggear</a:t>
            </a:r>
            <a:endParaRPr dirty="0"/>
          </a:p>
          <a:p>
            <a:pPr>
              <a:defRPr sz="1400">
                <a:solidFill>
                  <a:srgbClr val="C9D1D9"/>
                </a:solidFill>
              </a:defRPr>
            </a:pPr>
            <a:r>
              <a:rPr dirty="0"/>
              <a:t>· Sin </a:t>
            </a:r>
            <a:r>
              <a:rPr dirty="0" err="1"/>
              <a:t>ambigüedad</a:t>
            </a:r>
            <a:r>
              <a:rPr dirty="0"/>
              <a:t>: no </a:t>
            </a:r>
            <a:r>
              <a:rPr dirty="0" err="1"/>
              <a:t>importa</a:t>
            </a:r>
            <a:r>
              <a:rPr dirty="0"/>
              <a:t> el </a:t>
            </a:r>
            <a:r>
              <a:rPr dirty="0" err="1"/>
              <a:t>contenido</a:t>
            </a:r>
            <a:r>
              <a:rPr dirty="0"/>
              <a:t> del payload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45920"/>
            <a:ext cx="5029200" cy="4389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rtlCol="0" anchor="ctr"/>
          <a:lstStyle/>
          <a:p>
            <a:pPr algn="ctr">
              <a:defRPr sz="1400">
                <a:solidFill>
                  <a:srgbClr val="C9D1D9"/>
                </a:solidFill>
              </a:defRPr>
            </a:pPr>
            <a:r>
              <a:rPr dirty="0" err="1"/>
              <a:t>Comandos</a:t>
            </a:r>
            <a:r>
              <a:rPr dirty="0"/>
              <a:t> del </a:t>
            </a:r>
            <a:r>
              <a:rPr dirty="0" err="1"/>
              <a:t>protocolo</a:t>
            </a:r>
            <a:endParaRPr dirty="0"/>
          </a:p>
          <a:p>
            <a:pPr>
              <a:defRPr sz="1400">
                <a:solidFill>
                  <a:srgbClr val="C9D1D9"/>
                </a:solidFill>
              </a:defRPr>
            </a:pPr>
            <a:endParaRPr dirty="0"/>
          </a:p>
          <a:p>
            <a:pPr>
              <a:defRPr sz="1400">
                <a:solidFill>
                  <a:srgbClr val="C9D1D9"/>
                </a:solidFill>
              </a:defRPr>
            </a:pPr>
            <a:r>
              <a:rPr dirty="0"/>
              <a:t>CONNECT    — "Hola, </a:t>
            </a:r>
            <a:r>
              <a:rPr dirty="0" err="1"/>
              <a:t>quiero</a:t>
            </a:r>
            <a:r>
              <a:rPr dirty="0"/>
              <a:t> </a:t>
            </a:r>
            <a:r>
              <a:rPr dirty="0" err="1"/>
              <a:t>conectarme</a:t>
            </a:r>
            <a:r>
              <a:rPr dirty="0"/>
              <a:t>"</a:t>
            </a:r>
          </a:p>
          <a:p>
            <a:pPr>
              <a:defRPr sz="1400">
                <a:solidFill>
                  <a:srgbClr val="C9D1D9"/>
                </a:solidFill>
              </a:defRPr>
            </a:pPr>
            <a:r>
              <a:rPr dirty="0"/>
              <a:t>PUBLISH    — "</a:t>
            </a:r>
            <a:r>
              <a:rPr dirty="0" err="1"/>
              <a:t>Entregá</a:t>
            </a:r>
            <a:r>
              <a:rPr dirty="0"/>
              <a:t> </a:t>
            </a:r>
            <a:r>
              <a:rPr dirty="0" err="1"/>
              <a:t>esto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el </a:t>
            </a:r>
            <a:r>
              <a:rPr dirty="0" err="1"/>
              <a:t>tópico</a:t>
            </a:r>
            <a:r>
              <a:rPr dirty="0"/>
              <a:t> X"</a:t>
            </a:r>
          </a:p>
          <a:p>
            <a:pPr>
              <a:defRPr sz="1400">
                <a:solidFill>
                  <a:srgbClr val="C9D1D9"/>
                </a:solidFill>
              </a:defRPr>
            </a:pPr>
            <a:r>
              <a:rPr dirty="0"/>
              <a:t>SUBSCRIBE  — "</a:t>
            </a:r>
            <a:r>
              <a:rPr dirty="0" err="1"/>
              <a:t>Quiero</a:t>
            </a:r>
            <a:r>
              <a:rPr dirty="0"/>
              <a:t> </a:t>
            </a:r>
            <a:r>
              <a:rPr dirty="0" err="1"/>
              <a:t>recibir</a:t>
            </a:r>
            <a:r>
              <a:rPr dirty="0"/>
              <a:t> del </a:t>
            </a:r>
            <a:r>
              <a:rPr dirty="0" err="1"/>
              <a:t>tópico</a:t>
            </a:r>
            <a:r>
              <a:rPr dirty="0"/>
              <a:t> X"</a:t>
            </a:r>
          </a:p>
          <a:p>
            <a:pPr>
              <a:defRPr sz="1400">
                <a:solidFill>
                  <a:srgbClr val="C9D1D9"/>
                </a:solidFill>
              </a:defRPr>
            </a:pPr>
            <a:r>
              <a:rPr dirty="0"/>
              <a:t>MESSAGE    — "</a:t>
            </a:r>
            <a:r>
              <a:rPr dirty="0" err="1"/>
              <a:t>Te</a:t>
            </a:r>
            <a:r>
              <a:rPr dirty="0"/>
              <a:t> </a:t>
            </a:r>
            <a:r>
              <a:rPr dirty="0" err="1"/>
              <a:t>entrego</a:t>
            </a:r>
            <a:r>
              <a:rPr dirty="0"/>
              <a:t> </a:t>
            </a:r>
            <a:r>
              <a:rPr dirty="0" err="1"/>
              <a:t>este</a:t>
            </a:r>
            <a:r>
              <a:rPr dirty="0"/>
              <a:t> </a:t>
            </a:r>
            <a:r>
              <a:rPr dirty="0" err="1"/>
              <a:t>mensaje</a:t>
            </a:r>
            <a:r>
              <a:rPr dirty="0"/>
              <a:t>"</a:t>
            </a:r>
          </a:p>
          <a:p>
            <a:pPr>
              <a:defRPr sz="1400">
                <a:solidFill>
                  <a:srgbClr val="C9D1D9"/>
                </a:solidFill>
              </a:defRPr>
            </a:pPr>
            <a:r>
              <a:rPr dirty="0"/>
              <a:t>OK / ERROR — </a:t>
            </a:r>
            <a:r>
              <a:rPr dirty="0" err="1"/>
              <a:t>Confirmaciones</a:t>
            </a:r>
            <a:endParaRPr dirty="0"/>
          </a:p>
          <a:p>
            <a:pPr>
              <a:defRPr sz="1400">
                <a:solidFill>
                  <a:srgbClr val="C9D1D9"/>
                </a:solidFill>
              </a:defRPr>
            </a:pPr>
            <a:r>
              <a:rPr dirty="0"/>
              <a:t>HEARTBEAT  — "Sigo vivo"</a:t>
            </a:r>
          </a:p>
          <a:p>
            <a:pPr>
              <a:defRPr sz="1400">
                <a:solidFill>
                  <a:srgbClr val="C9D1D9"/>
                </a:solidFill>
              </a:defRPr>
            </a:pPr>
            <a:r>
              <a:rPr dirty="0"/>
              <a:t>DISCONNECT — "Chau"</a:t>
            </a:r>
          </a:p>
          <a:p>
            <a:pPr>
              <a:defRPr sz="1400">
                <a:solidFill>
                  <a:srgbClr val="C9D1D9"/>
                </a:solidFill>
              </a:defRPr>
            </a:pPr>
            <a:r>
              <a:rPr dirty="0"/>
              <a:t>UNSUBSCRIBE — "Ya no </a:t>
            </a:r>
            <a:r>
              <a:rPr dirty="0" err="1"/>
              <a:t>quiero</a:t>
            </a:r>
            <a:r>
              <a:rPr dirty="0"/>
              <a:t> X"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C9D1D9"/>
                </a:solidFill>
              </a:defRPr>
            </a:pPr>
            <a:r>
              <a:t>Componentes del sistema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8B949E"/>
                </a:solidFill>
              </a:defRPr>
            </a:pPr>
            <a:r>
              <a:t>~400 líneas de código. Simple, didáctico, funcional.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49E"/>
                </a:solidFill>
              </a:defRPr>
            </a:pPr>
            <a:r>
              <a:t>Broker de Mensajería — Arquitectura de Software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B949E"/>
                </a:solidFill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560320" cy="32004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600" b="1">
                <a:solidFill>
                  <a:srgbClr val="58A6FF"/>
                </a:solidFill>
              </a:defRPr>
            </a:pPr>
            <a:r>
              <a:rPr dirty="0"/>
              <a:t>Protocol (protocol.py)</a:t>
            </a:r>
          </a:p>
          <a:p>
            <a:endParaRPr dirty="0"/>
          </a:p>
          <a:p>
            <a:pPr>
              <a:defRPr sz="1300">
                <a:solidFill>
                  <a:srgbClr val="C9D1D9"/>
                </a:solidFill>
              </a:defRPr>
            </a:pPr>
            <a:r>
              <a:rPr dirty="0"/>
              <a:t>Define el '</a:t>
            </a:r>
            <a:r>
              <a:rPr dirty="0" err="1"/>
              <a:t>idioma</a:t>
            </a:r>
            <a:r>
              <a:rPr dirty="0"/>
              <a:t>'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hablan</a:t>
            </a:r>
            <a:br>
              <a:rPr dirty="0"/>
            </a:br>
            <a:r>
              <a:rPr dirty="0" err="1"/>
              <a:t>cliente</a:t>
            </a:r>
            <a:r>
              <a:rPr dirty="0"/>
              <a:t> y </a:t>
            </a:r>
            <a:r>
              <a:rPr dirty="0" err="1"/>
              <a:t>servidor</a:t>
            </a:r>
            <a:r>
              <a:rPr dirty="0"/>
              <a:t>.</a:t>
            </a:r>
            <a:br>
              <a:rPr dirty="0"/>
            </a:br>
            <a:r>
              <a:rPr dirty="0"/>
              <a:t>Frame, Command, encode, decode.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645920"/>
            <a:ext cx="2560320" cy="32004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600" b="1">
                <a:solidFill>
                  <a:srgbClr val="3FB950"/>
                </a:solidFill>
              </a:defRPr>
            </a:pPr>
            <a:r>
              <a:t>Server (server.py)</a:t>
            </a:r>
          </a:p>
          <a:p>
            <a:endParaRPr/>
          </a:p>
          <a:p>
            <a:pPr>
              <a:defRPr sz="1300">
                <a:solidFill>
                  <a:srgbClr val="C9D1D9"/>
                </a:solidFill>
              </a:defRPr>
            </a:pPr>
            <a:r>
              <a:t>Acepta conexiones, enruta</a:t>
            </a:r>
            <a:br/>
            <a:r>
              <a:t>mensajes, orquesta todo.</a:t>
            </a:r>
            <a:br/>
            <a:r>
              <a:t>selectors + event loop.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645920"/>
            <a:ext cx="2560320" cy="32004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D299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600" b="1">
                <a:solidFill>
                  <a:srgbClr val="D2991D"/>
                </a:solidFill>
              </a:defRPr>
            </a:pPr>
            <a:r>
              <a:rPr dirty="0"/>
              <a:t>Client (client.py)</a:t>
            </a:r>
          </a:p>
          <a:p>
            <a:endParaRPr dirty="0"/>
          </a:p>
          <a:p>
            <a:pPr>
              <a:defRPr sz="1300">
                <a:solidFill>
                  <a:srgbClr val="C9D1D9"/>
                </a:solidFill>
              </a:defRPr>
            </a:pPr>
            <a:r>
              <a:rPr dirty="0"/>
              <a:t>Librería </a:t>
            </a:r>
            <a:r>
              <a:rPr dirty="0" err="1"/>
              <a:t>compartida</a:t>
            </a:r>
            <a:r>
              <a:rPr dirty="0"/>
              <a:t>: </a:t>
            </a:r>
            <a:r>
              <a:rPr dirty="0" err="1"/>
              <a:t>una</a:t>
            </a:r>
            <a:r>
              <a:rPr dirty="0"/>
              <a:t> sola</a:t>
            </a:r>
            <a:br>
              <a:rPr dirty="0"/>
            </a:br>
            <a:r>
              <a:rPr dirty="0" err="1"/>
              <a:t>clase</a:t>
            </a:r>
            <a:r>
              <a:rPr dirty="0"/>
              <a:t> publica Y </a:t>
            </a:r>
            <a:r>
              <a:rPr dirty="0" err="1"/>
              <a:t>suscribe</a:t>
            </a:r>
            <a:r>
              <a:rPr dirty="0"/>
              <a:t>.</a:t>
            </a:r>
            <a:br>
              <a:rPr dirty="0"/>
            </a:br>
            <a:r>
              <a:rPr dirty="0"/>
              <a:t>Hilo de </a:t>
            </a:r>
            <a:r>
              <a:rPr dirty="0" err="1"/>
              <a:t>escucha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background.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40" y="1645920"/>
            <a:ext cx="2560320" cy="32004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A37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600" b="1">
                <a:solidFill>
                  <a:srgbClr val="A371F7"/>
                </a:solidFill>
              </a:defRPr>
            </a:pPr>
            <a:r>
              <a:t>Storage (storage.py)</a:t>
            </a:r>
          </a:p>
          <a:p>
            <a:endParaRPr/>
          </a:p>
          <a:p>
            <a:pPr>
              <a:defRPr sz="1300">
                <a:solidFill>
                  <a:srgbClr val="C9D1D9"/>
                </a:solidFill>
              </a:defRPr>
            </a:pPr>
            <a:r>
              <a:t>Persistencia en disco.</a:t>
            </a:r>
            <a:br/>
            <a:r>
              <a:t>topics.json + messages.jsonl.</a:t>
            </a:r>
            <a:br/>
            <a:r>
              <a:t>Append-only log inmutable.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206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8B949E"/>
                </a:solidFill>
              </a:defRPr>
            </a:pPr>
            <a:r>
              <a:t>broker/ → protocol.py | server.py | client.py | storage.py</a:t>
            </a:r>
          </a:p>
          <a:p>
            <a:pPr>
              <a:spcAft>
                <a:spcPts val="400"/>
              </a:spcAft>
              <a:defRPr sz="1400" b="0">
                <a:solidFill>
                  <a:srgbClr val="8B949E"/>
                </a:solidFill>
              </a:defRPr>
            </a:pPr>
            <a:r>
              <a:t>examples/ → demo.py | publisher.py | subscriber.py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C9D1D9"/>
                </a:solidFill>
              </a:defRPr>
            </a:pPr>
            <a:r>
              <a:t>El servidor por dentro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8B949E"/>
                </a:solidFill>
              </a:defRPr>
            </a:pPr>
            <a:r>
              <a:t>Event Loop con selectors + Router pub→sub + MessageLog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49E"/>
                </a:solidFill>
              </a:defRPr>
            </a:pPr>
            <a:r>
              <a:t>Broker de Mensajería — Arquitectura de Software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B949E"/>
                </a:solidFill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029200" cy="41148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rtlCol="0" anchor="ctr"/>
          <a:lstStyle/>
          <a:p>
            <a:pPr algn="ctr">
              <a:defRPr sz="1400">
                <a:solidFill>
                  <a:srgbClr val="C9D1D9"/>
                </a:solidFill>
              </a:defRPr>
            </a:pPr>
            <a:r>
              <a:t>selectors.DefaultSelector()</a:t>
            </a:r>
          </a:p>
          <a:p>
            <a:pPr>
              <a:defRPr sz="1400">
                <a:solidFill>
                  <a:srgbClr val="C9D1D9"/>
                </a:solidFill>
              </a:defRPr>
            </a:pPr>
            <a:endParaRPr/>
          </a:p>
          <a:p>
            <a:pPr>
              <a:defRPr sz="1400">
                <a:solidFill>
                  <a:srgbClr val="C9D1D9"/>
                </a:solidFill>
              </a:defRPr>
            </a:pPr>
            <a:r>
              <a:t>· Un solo hilo atiende TODAS las conexiones</a:t>
            </a:r>
          </a:p>
          <a:p>
            <a:pPr>
              <a:defRPr sz="1400">
                <a:solidFill>
                  <a:srgbClr val="C9D1D9"/>
                </a:solidFill>
              </a:defRPr>
            </a:pPr>
            <a:r>
              <a:t>· El SO avisa cuando hay datos listos</a:t>
            </a:r>
          </a:p>
          <a:p>
            <a:pPr>
              <a:defRPr sz="1400">
                <a:solidFill>
                  <a:srgbClr val="C9D1D9"/>
                </a:solidFill>
              </a:defRPr>
            </a:pPr>
            <a:r>
              <a:t>· Sin desperdiciar recursos esperando</a:t>
            </a:r>
          </a:p>
          <a:p>
            <a:pPr>
              <a:defRPr sz="1400">
                <a:solidFill>
                  <a:srgbClr val="C9D1D9"/>
                </a:solidFill>
              </a:defRPr>
            </a:pPr>
            <a:endParaRPr/>
          </a:p>
          <a:p>
            <a:pPr>
              <a:defRPr sz="1400">
                <a:solidFill>
                  <a:srgbClr val="C9D1D9"/>
                </a:solidFill>
              </a:defRPr>
            </a:pPr>
            <a:r>
              <a:t>Mismo patrón que:</a:t>
            </a:r>
          </a:p>
          <a:p>
            <a:pPr>
              <a:defRPr sz="1400">
                <a:solidFill>
                  <a:srgbClr val="C9D1D9"/>
                </a:solidFill>
              </a:defRPr>
            </a:pPr>
            <a:r>
              <a:t>· Nginx → millones de páginas con pocos hilos</a:t>
            </a:r>
          </a:p>
          <a:p>
            <a:pPr>
              <a:defRPr sz="1400">
                <a:solidFill>
                  <a:srgbClr val="C9D1D9"/>
                </a:solidFill>
              </a:defRPr>
            </a:pPr>
            <a:r>
              <a:t>· Node.js → JavaScript en servidor con event loop</a:t>
            </a:r>
          </a:p>
          <a:p>
            <a:pPr>
              <a:defRPr sz="1400">
                <a:solidFill>
                  <a:srgbClr val="C9D1D9"/>
                </a:solidFill>
              </a:defRPr>
            </a:pPr>
            <a:r>
              <a:t>· Redis → base de datos con I/O no bloqueante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45920"/>
            <a:ext cx="5029200" cy="41148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rtlCol="0" anchor="ctr"/>
          <a:lstStyle/>
          <a:p>
            <a:pPr algn="ctr">
              <a:defRPr sz="1400">
                <a:solidFill>
                  <a:srgbClr val="C9D1D9"/>
                </a:solidFill>
              </a:defRPr>
            </a:pPr>
            <a:r>
              <a:t>Router: subscriptions dict</a:t>
            </a:r>
          </a:p>
          <a:p>
            <a:pPr>
              <a:defRPr sz="1400">
                <a:solidFill>
                  <a:srgbClr val="C9D1D9"/>
                </a:solidFill>
              </a:defRPr>
            </a:pPr>
            <a:endParaRPr/>
          </a:p>
          <a:p>
            <a:pPr>
              <a:defRPr sz="1400">
                <a:solidFill>
                  <a:srgbClr val="C9D1D9"/>
                </a:solidFill>
              </a:defRPr>
            </a:pPr>
            <a:r>
              <a:t>subscriptions = {</a:t>
            </a:r>
          </a:p>
          <a:p>
            <a:pPr>
              <a:defRPr sz="1400">
                <a:solidFill>
                  <a:srgbClr val="C9D1D9"/>
                </a:solidFill>
              </a:defRPr>
            </a:pPr>
            <a:r>
              <a:t>  "noticias": {sub_abc, sub_def},</a:t>
            </a:r>
          </a:p>
          <a:p>
            <a:pPr>
              <a:defRPr sz="1400">
                <a:solidFill>
                  <a:srgbClr val="C9D1D9"/>
                </a:solidFill>
              </a:defRPr>
            </a:pPr>
            <a:r>
              <a:t>  "clima":   {sub_ghi},</a:t>
            </a:r>
          </a:p>
          <a:p>
            <a:pPr>
              <a:defRPr sz="1400">
                <a:solidFill>
                  <a:srgbClr val="C9D1D9"/>
                </a:solidFill>
              </a:defRPr>
            </a:pPr>
            <a:r>
              <a:t>  "deporte": {sub_abc, sub_jkl},</a:t>
            </a:r>
          </a:p>
          <a:p>
            <a:pPr>
              <a:defRPr sz="1400">
                <a:solidFill>
                  <a:srgbClr val="C9D1D9"/>
                </a:solidFill>
              </a:defRPr>
            </a:pPr>
            <a:r>
              <a:t>}</a:t>
            </a:r>
          </a:p>
          <a:p>
            <a:pPr>
              <a:defRPr sz="1400">
                <a:solidFill>
                  <a:srgbClr val="C9D1D9"/>
                </a:solidFill>
              </a:defRPr>
            </a:pPr>
            <a:endParaRPr/>
          </a:p>
          <a:p>
            <a:pPr>
              <a:defRPr sz="1400">
                <a:solidFill>
                  <a:srgbClr val="C9D1D9"/>
                </a:solidFill>
              </a:defRPr>
            </a:pPr>
            <a:r>
              <a:t>· Búsqueda O(1): cuando llega un PUBLISH</a:t>
            </a:r>
          </a:p>
          <a:p>
            <a:pPr>
              <a:defRPr sz="1400">
                <a:solidFill>
                  <a:srgbClr val="C9D1D9"/>
                </a:solidFill>
              </a:defRPr>
            </a:pPr>
            <a:r>
              <a:t>al tópico X, encuentra los suscriptores</a:t>
            </a:r>
          </a:p>
          <a:p>
            <a:pPr>
              <a:defRPr sz="1400">
                <a:solidFill>
                  <a:srgbClr val="C9D1D9"/>
                </a:solidFill>
              </a:defRPr>
            </a:pPr>
            <a:r>
              <a:t>instantáneamente</a:t>
            </a:r>
          </a:p>
          <a:p>
            <a:pPr>
              <a:defRPr sz="1400">
                <a:solidFill>
                  <a:srgbClr val="C9D1D9"/>
                </a:solidFill>
              </a:defRPr>
            </a:pPr>
            <a:r>
              <a:t>· Cada entry es un set de client_id</a:t>
            </a:r>
          </a:p>
          <a:p>
            <a:pPr>
              <a:defRPr sz="1400">
                <a:solidFill>
                  <a:srgbClr val="C9D1D9"/>
                </a:solidFill>
              </a:defRPr>
            </a:pPr>
            <a:r>
              <a:t>· Multi-tópico: un cliente puede estar</a:t>
            </a:r>
          </a:p>
          <a:p>
            <a:pPr>
              <a:defRPr sz="1400">
                <a:solidFill>
                  <a:srgbClr val="C9D1D9"/>
                </a:solidFill>
              </a:defRPr>
            </a:pPr>
            <a:r>
              <a:t>en varios tópicos a la vez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C9D1D9"/>
                </a:solidFill>
              </a:defRPr>
            </a:pPr>
            <a:r>
              <a:t>¿Por qué selectors y no un hilo por conexión?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49E"/>
                </a:solidFill>
              </a:defRPr>
            </a:pPr>
            <a:r>
              <a:t>Broker de Mensajería — Arquitectura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B949E"/>
                </a:solidFill>
              </a:defRPr>
            </a:pPr>
            <a: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86000" y="1828800"/>
          <a:ext cx="7772400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58A6FF"/>
                          </a:solidFill>
                        </a:defRPr>
                      </a:pPr>
                      <a:r>
                        <a:t>Enfoque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58A6FF"/>
                          </a:solidFill>
                        </a:defRPr>
                      </a:pPr>
                      <a:r>
                        <a:t>10 conexiones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58A6FF"/>
                          </a:solidFill>
                        </a:defRPr>
                      </a:pPr>
                      <a:r>
                        <a:t>1,000 conexiones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58A6FF"/>
                          </a:solidFill>
                        </a:defRPr>
                      </a:pPr>
                      <a:r>
                        <a:t>10,000 conexiones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C9D1D9"/>
                          </a:solidFill>
                        </a:defRPr>
                      </a:pPr>
                      <a:r>
                        <a:t>Un hilo por conexión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C9D1D9"/>
                          </a:solidFill>
                        </a:defRPr>
                      </a:pPr>
                      <a:r>
                        <a:t>✅ OK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C9D1D9"/>
                          </a:solidFill>
                        </a:defRPr>
                      </a:pPr>
                      <a:r>
                        <a:t>⚠️ Lento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C9D1D9"/>
                          </a:solidFill>
                        </a:defRPr>
                      </a:pPr>
                      <a:r>
                        <a:t>❌ Imposible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C9D1D9"/>
                          </a:solidFill>
                        </a:defRPr>
                      </a:pPr>
                      <a:r>
                        <a:t>selectors (un hilo)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C9D1D9"/>
                          </a:solidFill>
                        </a:defRPr>
                      </a:pPr>
                      <a:r>
                        <a:t>✅ OK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C9D1D9"/>
                          </a:solidFill>
                        </a:defRPr>
                      </a:pPr>
                      <a:r>
                        <a:t>✅ OK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C9D1D9"/>
                          </a:solidFill>
                        </a:defRPr>
                      </a:pPr>
                      <a:r>
                        <a:t>✅ OK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3840480"/>
            <a:ext cx="10698480" cy="2286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rtlCol="0" anchor="ctr"/>
          <a:lstStyle/>
          <a:p>
            <a:pPr algn="ctr">
              <a:defRPr sz="1400">
                <a:solidFill>
                  <a:srgbClr val="C9D1D9"/>
                </a:solidFill>
              </a:defRPr>
            </a:pPr>
            <a:r>
              <a:t>¿Por qué escala mejor?</a:t>
            </a:r>
          </a:p>
          <a:p>
            <a:pPr>
              <a:defRPr sz="1400">
                <a:solidFill>
                  <a:srgbClr val="C9D1D9"/>
                </a:solidFill>
              </a:defRPr>
            </a:pPr>
            <a:endParaRPr/>
          </a:p>
          <a:p>
            <a:pPr>
              <a:defRPr sz="1400">
                <a:solidFill>
                  <a:srgbClr val="C9D1D9"/>
                </a:solidFill>
              </a:defRPr>
            </a:pPr>
            <a:r>
              <a:t>Con threads: cada hilo consume ~1MB de stack.</a:t>
            </a:r>
          </a:p>
          <a:p>
            <a:pPr>
              <a:defRPr sz="1400">
                <a:solidFill>
                  <a:srgbClr val="C9D1D9"/>
                </a:solidFill>
              </a:defRPr>
            </a:pPr>
            <a:r>
              <a:t>10,000 hilos = 10GB solo en memoria del kernel.</a:t>
            </a:r>
          </a:p>
          <a:p>
            <a:pPr>
              <a:defRPr sz="1400">
                <a:solidFill>
                  <a:srgbClr val="C9D1D9"/>
                </a:solidFill>
              </a:defRPr>
            </a:pPr>
            <a:r>
              <a:t>Cambios de contexto constantes matan el rendimiento.</a:t>
            </a:r>
          </a:p>
          <a:p>
            <a:pPr>
              <a:defRPr sz="1400">
                <a:solidFill>
                  <a:srgbClr val="C9D1D9"/>
                </a:solidFill>
              </a:defRPr>
            </a:pPr>
            <a:endParaRPr/>
          </a:p>
          <a:p>
            <a:pPr>
              <a:defRPr sz="1400">
                <a:solidFill>
                  <a:srgbClr val="C9D1D9"/>
                </a:solidFill>
              </a:defRPr>
            </a:pPr>
            <a:r>
              <a:t>Con selectors: un solo hilo, el kernel notifica</a:t>
            </a:r>
          </a:p>
          <a:p>
            <a:pPr>
              <a:defRPr sz="1400">
                <a:solidFill>
                  <a:srgbClr val="C9D1D9"/>
                </a:solidFill>
              </a:defRPr>
            </a:pPr>
            <a:r>
              <a:t>cuándo cada socket tiene datos listos.</a:t>
            </a:r>
          </a:p>
          <a:p>
            <a:pPr>
              <a:defRPr sz="1400">
                <a:solidFill>
                  <a:srgbClr val="C9D1D9"/>
                </a:solidFill>
              </a:defRPr>
            </a:pPr>
            <a:r>
              <a:t>No hay cambios de contexto innecesarios.</a:t>
            </a:r>
          </a:p>
          <a:p>
            <a:pPr>
              <a:defRPr sz="1400">
                <a:solidFill>
                  <a:srgbClr val="C9D1D9"/>
                </a:solidFill>
              </a:defRPr>
            </a:pPr>
            <a:r>
              <a:t>Es I/O-bound, no CPU-bound.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C9D1D9"/>
                </a:solidFill>
              </a:defRPr>
            </a:pPr>
            <a:r>
              <a:t>Patrones de arquitectura aplicados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49E"/>
                </a:solidFill>
              </a:defRPr>
            </a:pPr>
            <a:r>
              <a:t>Broker de Mensajería — Arquitectura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B949E"/>
                </a:solidFill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74720" cy="201168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defRPr sz="1800" b="1">
                <a:solidFill>
                  <a:srgbClr val="58A6FF"/>
                </a:solidFill>
              </a:defRPr>
            </a:pPr>
            <a:r>
              <a:t>Cliente-Servidor</a:t>
            </a:r>
          </a:p>
          <a:p>
            <a:endParaRPr/>
          </a:p>
          <a:p>
            <a:pPr>
              <a:defRPr sz="1300">
                <a:solidFill>
                  <a:srgbClr val="C9D1D9"/>
                </a:solidFill>
              </a:defRPr>
            </a:pPr>
            <a:r>
              <a:t>Separación clara de responsabilidades:</a:t>
            </a:r>
            <a:br/>
            <a:r>
              <a:t>uno sirve, otros consumen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1645920"/>
            <a:ext cx="3474720" cy="201168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defRPr sz="1800" b="1">
                <a:solidFill>
                  <a:srgbClr val="3FB950"/>
                </a:solidFill>
              </a:defRPr>
            </a:pPr>
            <a:r>
              <a:t>Pub/Sub</a:t>
            </a:r>
          </a:p>
          <a:p>
            <a:endParaRPr/>
          </a:p>
          <a:p>
            <a:pPr>
              <a:defRPr sz="1300">
                <a:solidFill>
                  <a:srgbClr val="C9D1D9"/>
                </a:solidFill>
              </a:defRPr>
            </a:pPr>
            <a:r>
              <a:t>Desacoplamiento total: publishers</a:t>
            </a:r>
            <a:br/>
            <a:r>
              <a:t>y subscribers no se conocen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645920"/>
            <a:ext cx="3474720" cy="201168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D299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defRPr sz="1800" b="1">
                <a:solidFill>
                  <a:srgbClr val="D2991D"/>
                </a:solidFill>
              </a:defRPr>
            </a:pPr>
            <a:r>
              <a:t>Topic-based routing</a:t>
            </a:r>
          </a:p>
          <a:p>
            <a:endParaRPr/>
          </a:p>
          <a:p>
            <a:pPr>
              <a:defRPr sz="1300">
                <a:solidFill>
                  <a:srgbClr val="C9D1D9"/>
                </a:solidFill>
              </a:defRPr>
            </a:pPr>
            <a:r>
              <a:t>Mensajes organizados por tema (tópico).</a:t>
            </a:r>
            <a:br/>
            <a:r>
              <a:t>Como canales de TV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3474720" cy="201168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A37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defRPr sz="1800" b="1">
                <a:solidFill>
                  <a:srgbClr val="A371F7"/>
                </a:solidFill>
              </a:defRPr>
            </a:pPr>
            <a:r>
              <a:t>Event Loop</a:t>
            </a:r>
          </a:p>
          <a:p>
            <a:endParaRPr/>
          </a:p>
          <a:p>
            <a:pPr>
              <a:defRPr sz="1300">
                <a:solidFill>
                  <a:srgbClr val="C9D1D9"/>
                </a:solidFill>
              </a:defRPr>
            </a:pPr>
            <a:r>
              <a:t>Concurrencia eficiente sin</a:t>
            </a:r>
            <a:br/>
            <a:r>
              <a:t>complejidad de threads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4023360"/>
            <a:ext cx="3474720" cy="201168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defRPr sz="1800" b="1">
                <a:solidFill>
                  <a:srgbClr val="F85149"/>
                </a:solidFill>
              </a:defRPr>
            </a:pPr>
            <a:r>
              <a:t>Length-prefixed protocol</a:t>
            </a:r>
          </a:p>
          <a:p>
            <a:endParaRPr/>
          </a:p>
          <a:p>
            <a:pPr>
              <a:defRPr sz="1300">
                <a:solidFill>
                  <a:srgbClr val="C9D1D9"/>
                </a:solidFill>
              </a:defRPr>
            </a:pPr>
            <a:r>
              <a:t>Framing robusto: sabés dónde</a:t>
            </a:r>
            <a:br/>
            <a:r>
              <a:t>empieza y termina cada mensaje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023360"/>
            <a:ext cx="3474720" cy="201168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defRPr sz="1800" b="1">
                <a:solidFill>
                  <a:srgbClr val="3FB950"/>
                </a:solidFill>
              </a:defRPr>
            </a:pPr>
            <a:r>
              <a:t>Append-only log</a:t>
            </a:r>
          </a:p>
          <a:p>
            <a:endParaRPr/>
          </a:p>
          <a:p>
            <a:pPr>
              <a:defRPr sz="1300">
                <a:solidFill>
                  <a:srgbClr val="C9D1D9"/>
                </a:solidFill>
              </a:defRPr>
            </a:pPr>
            <a:r>
              <a:t>Persistencia inmutable: cada</a:t>
            </a:r>
            <a:br/>
            <a:r>
              <a:t>mensaje se agrega al final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C9D1D9"/>
                </a:solidFill>
              </a:defRPr>
            </a:pPr>
            <a:r>
              <a:t>Demo en vivo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8B949E"/>
                </a:solidFill>
              </a:defRPr>
            </a:pPr>
            <a:r>
              <a:t>Un comando para verlo todo funcionando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49E"/>
                </a:solidFill>
              </a:defRPr>
            </a:pPr>
            <a:r>
              <a:t>Broker de Mensajería — Arquitectura de Software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B949E"/>
                </a:solidFill>
              </a:defRPr>
            </a:pPr>
            <a: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029200" cy="3200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rtlCol="0" anchor="ctr"/>
          <a:lstStyle/>
          <a:p>
            <a:pPr algn="ctr">
              <a:defRPr sz="1400">
                <a:solidFill>
                  <a:srgbClr val="3FB950"/>
                </a:solidFill>
              </a:defRPr>
            </a:pPr>
            <a:r>
              <a:t>Demo integrada (1 terminal)</a:t>
            </a:r>
          </a:p>
          <a:p>
            <a:pPr>
              <a:defRPr sz="1400">
                <a:solidFill>
                  <a:srgbClr val="3FB950"/>
                </a:solidFill>
              </a:defRPr>
            </a:pPr>
            <a:endParaRPr/>
          </a:p>
          <a:p>
            <a:pPr>
              <a:defRPr sz="1400">
                <a:solidFill>
                  <a:srgbClr val="3FB950"/>
                </a:solidFill>
              </a:defRPr>
            </a:pPr>
            <a:r>
              <a:t>$ python -m examples.demo</a:t>
            </a:r>
          </a:p>
          <a:p>
            <a:pPr>
              <a:defRPr sz="1400">
                <a:solidFill>
                  <a:srgbClr val="3FB950"/>
                </a:solidFill>
              </a:defRPr>
            </a:pPr>
            <a:endParaRPr/>
          </a:p>
          <a:p>
            <a:pPr>
              <a:defRPr sz="1400">
                <a:solidFill>
                  <a:srgbClr val="3FB950"/>
                </a:solidFill>
              </a:defRPr>
            </a:pPr>
            <a:r>
              <a:t>Levanta broker + publicador + suscriptor</a:t>
            </a:r>
          </a:p>
          <a:p>
            <a:pPr>
              <a:defRPr sz="1400">
                <a:solidFill>
                  <a:srgbClr val="3FB950"/>
                </a:solidFill>
              </a:defRPr>
            </a:pPr>
            <a:r>
              <a:t>en un solo proceso, envía 5 mensajes,</a:t>
            </a:r>
          </a:p>
          <a:p>
            <a:pPr>
              <a:defRPr sz="1400">
                <a:solidFill>
                  <a:srgbClr val="3FB950"/>
                </a:solidFill>
              </a:defRPr>
            </a:pPr>
            <a:r>
              <a:t>y se cierra limpiamente.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45920"/>
            <a:ext cx="5029200" cy="3200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rtlCol="0" anchor="ctr"/>
          <a:lstStyle/>
          <a:p>
            <a:pPr algn="ctr">
              <a:defRPr sz="1400">
                <a:solidFill>
                  <a:srgbClr val="C9D1D9"/>
                </a:solidFill>
              </a:defRPr>
            </a:pPr>
            <a:r>
              <a:t>Modo real (3 terminales)</a:t>
            </a:r>
          </a:p>
          <a:p>
            <a:pPr>
              <a:defRPr sz="1400">
                <a:solidFill>
                  <a:srgbClr val="C9D1D9"/>
                </a:solidFill>
              </a:defRPr>
            </a:pPr>
            <a:endParaRPr/>
          </a:p>
          <a:p>
            <a:pPr>
              <a:defRPr sz="1400">
                <a:solidFill>
                  <a:srgbClr val="C9D1D9"/>
                </a:solidFill>
              </a:defRPr>
            </a:pPr>
            <a:r>
              <a:t>Terminal 1: python -m broker.server</a:t>
            </a:r>
          </a:p>
          <a:p>
            <a:pPr>
              <a:defRPr sz="1400">
                <a:solidFill>
                  <a:srgbClr val="C9D1D9"/>
                </a:solidFill>
              </a:defRPr>
            </a:pPr>
            <a:r>
              <a:t>Terminal 2: python -m examples.subscriber</a:t>
            </a:r>
          </a:p>
          <a:p>
            <a:pPr>
              <a:defRPr sz="1400">
                <a:solidFill>
                  <a:srgbClr val="C9D1D9"/>
                </a:solidFill>
              </a:defRPr>
            </a:pPr>
            <a:r>
              <a:t>Terminal 3: python -m examples.publisher</a:t>
            </a:r>
          </a:p>
          <a:p>
            <a:pPr>
              <a:defRPr sz="1400">
                <a:solidFill>
                  <a:srgbClr val="C9D1D9"/>
                </a:solidFill>
              </a:defRPr>
            </a:pPr>
            <a:endParaRPr/>
          </a:p>
          <a:p>
            <a:pPr>
              <a:defRPr sz="1400">
                <a:solidFill>
                  <a:srgbClr val="C9D1D9"/>
                </a:solidFill>
              </a:defRPr>
            </a:pPr>
            <a:r>
              <a:t>Personalizado:</a:t>
            </a:r>
          </a:p>
          <a:p>
            <a:pPr>
              <a:defRPr sz="1400">
                <a:solidFill>
                  <a:srgbClr val="C9D1D9"/>
                </a:solidFill>
              </a:defRPr>
            </a:pPr>
            <a:r>
              <a:t>python -m broker.server 0.0.0.0 7777</a:t>
            </a:r>
          </a:p>
          <a:p>
            <a:pPr>
              <a:defRPr sz="1400">
                <a:solidFill>
                  <a:srgbClr val="C9D1D9"/>
                </a:solidFill>
              </a:defRPr>
            </a:pPr>
            <a:r>
              <a:t>python -m examples.publisher 127.0.0.1 7777 clima 3.0</a:t>
            </a:r>
          </a:p>
        </p:txBody>
      </p:sp>
      <p:pic>
        <p:nvPicPr>
          <p:cNvPr id="9" name="Picture 8" descr="mmdc_flujo-mensaj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157216"/>
            <a:ext cx="10698480" cy="11521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C9D1D9"/>
                </a:solidFill>
              </a:defRPr>
            </a:pPr>
            <a:r>
              <a:t>Broker vs SOA — ¿compiten o se complementan?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49E"/>
                </a:solidFill>
              </a:defRPr>
            </a:pPr>
            <a:r>
              <a:t>Broker de Mensajería — Arquitectura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B949E"/>
                </a:solidFill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029200" cy="41148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rtlCol="0" anchor="ctr"/>
          <a:lstStyle/>
          <a:p>
            <a:pPr algn="ctr">
              <a:defRPr sz="1300">
                <a:solidFill>
                  <a:srgbClr val="58A6FF"/>
                </a:solidFill>
              </a:defRPr>
            </a:pPr>
            <a:r>
              <a:t>Broker (Pub/Sub)</a:t>
            </a:r>
          </a:p>
          <a:p>
            <a:pPr>
              <a:defRPr sz="1300">
                <a:solidFill>
                  <a:srgbClr val="58A6FF"/>
                </a:solidFill>
              </a:defRPr>
            </a:pPr>
            <a:endParaRPr/>
          </a:p>
          <a:p>
            <a:pPr>
              <a:defRPr sz="1300">
                <a:solidFill>
                  <a:srgbClr val="58A6FF"/>
                </a:solidFill>
              </a:defRPr>
            </a:pPr>
            <a:r>
              <a:t>· Orquesta mensajes (datos que fluyen)</a:t>
            </a:r>
          </a:p>
          <a:p>
            <a:pPr>
              <a:defRPr sz="1300">
                <a:solidFill>
                  <a:srgbClr val="58A6FF"/>
                </a:solidFill>
              </a:defRPr>
            </a:pPr>
            <a:r>
              <a:t>· Cartero mudo: entrega y se olvida</a:t>
            </a:r>
          </a:p>
          <a:p>
            <a:pPr>
              <a:defRPr sz="1300">
                <a:solidFill>
                  <a:srgbClr val="58A6FF"/>
                </a:solidFill>
              </a:defRPr>
            </a:pPr>
            <a:r>
              <a:t>· 1:N, asíncrono</a:t>
            </a:r>
          </a:p>
          <a:p>
            <a:pPr>
              <a:defRPr sz="1300">
                <a:solidFill>
                  <a:srgbClr val="58A6FF"/>
                </a:solidFill>
              </a:defRPr>
            </a:pPr>
            <a:r>
              <a:t>· El emisor no sabe quién recibe</a:t>
            </a:r>
          </a:p>
          <a:p>
            <a:pPr>
              <a:defRPr sz="1300">
                <a:solidFill>
                  <a:srgbClr val="58A6FF"/>
                </a:solidFill>
              </a:defRPr>
            </a:pPr>
            <a:r>
              <a:t>· No transforma mensajes</a:t>
            </a:r>
          </a:p>
          <a:p>
            <a:pPr>
              <a:defRPr sz="1300">
                <a:solidFill>
                  <a:srgbClr val="58A6FF"/>
                </a:solidFill>
              </a:defRPr>
            </a:pPr>
            <a:r>
              <a:t>· Tópicos libres, sin schema formal</a:t>
            </a:r>
          </a:p>
          <a:p>
            <a:pPr>
              <a:defRPr sz="1300">
                <a:solidFill>
                  <a:srgbClr val="58A6FF"/>
                </a:solidFill>
              </a:defRPr>
            </a:pPr>
            <a:r>
              <a:t>· El suscriptor puede estar offline</a:t>
            </a:r>
          </a:p>
          <a:p>
            <a:pPr>
              <a:defRPr sz="1300">
                <a:solidFill>
                  <a:srgbClr val="58A6FF"/>
                </a:solidFill>
              </a:defRPr>
            </a:pPr>
            <a:r>
              <a:t>· Infraestructura, no arquitectura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5029200" cy="41148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rtlCol="0" anchor="ctr"/>
          <a:lstStyle/>
          <a:p>
            <a:pPr algn="ctr">
              <a:defRPr sz="1300">
                <a:solidFill>
                  <a:srgbClr val="3FB950"/>
                </a:solidFill>
              </a:defRPr>
            </a:pPr>
            <a:r>
              <a:t>SOA</a:t>
            </a:r>
          </a:p>
          <a:p>
            <a:pPr>
              <a:defRPr sz="1300">
                <a:solidFill>
                  <a:srgbClr val="3FB950"/>
                </a:solidFill>
              </a:defRPr>
            </a:pPr>
            <a:endParaRPr/>
          </a:p>
          <a:p>
            <a:pPr>
              <a:defRPr sz="1300">
                <a:solidFill>
                  <a:srgbClr val="3FB950"/>
                </a:solidFill>
              </a:defRPr>
            </a:pPr>
            <a:r>
              <a:t>· Orquesta servicios (lógica de negocio)</a:t>
            </a:r>
          </a:p>
          <a:p>
            <a:pPr>
              <a:defRPr sz="1300">
                <a:solidFill>
                  <a:srgbClr val="3FB950"/>
                </a:solidFill>
              </a:defRPr>
            </a:pPr>
            <a:r>
              <a:t>· Orquestador inteligente</a:t>
            </a:r>
          </a:p>
          <a:p>
            <a:pPr>
              <a:defRPr sz="1300">
                <a:solidFill>
                  <a:srgbClr val="3FB950"/>
                </a:solidFill>
              </a:defRPr>
            </a:pPr>
            <a:r>
              <a:t>· Request-response 1:1, síncrono</a:t>
            </a:r>
          </a:p>
          <a:p>
            <a:pPr>
              <a:defRPr sz="1300">
                <a:solidFill>
                  <a:srgbClr val="3FB950"/>
                </a:solidFill>
              </a:defRPr>
            </a:pPr>
            <a:r>
              <a:t>· El consumidor conoce el contrato (WSDL, REST)</a:t>
            </a:r>
          </a:p>
          <a:p>
            <a:pPr>
              <a:defRPr sz="1300">
                <a:solidFill>
                  <a:srgbClr val="3FB950"/>
                </a:solidFill>
              </a:defRPr>
            </a:pPr>
            <a:r>
              <a:t>· El ESB transforma, enruta, enriquece</a:t>
            </a:r>
          </a:p>
          <a:p>
            <a:pPr>
              <a:defRPr sz="1300">
                <a:solidFill>
                  <a:srgbClr val="3FB950"/>
                </a:solidFill>
              </a:defRPr>
            </a:pPr>
            <a:r>
              <a:t>· Catálogo de servicios con schemas tipados</a:t>
            </a:r>
          </a:p>
          <a:p>
            <a:pPr>
              <a:defRPr sz="1300">
                <a:solidFill>
                  <a:srgbClr val="3FB950"/>
                </a:solidFill>
              </a:defRPr>
            </a:pPr>
            <a:r>
              <a:t>· Ambos deben estar online al mismo tiempo</a:t>
            </a:r>
          </a:p>
          <a:p>
            <a:pPr>
              <a:defRPr sz="1300">
                <a:solidFill>
                  <a:srgbClr val="3FB950"/>
                </a:solidFill>
              </a:defRPr>
            </a:pPr>
            <a:r>
              <a:t>· Estilo arquitectónico completo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D2991D"/>
                </a:solidFill>
              </a:defRPr>
            </a:pPr>
            <a:r>
              <a:t>Se complementan. El broker es la herramienta que SOA usa para la mensajería asíncrona.</a:t>
            </a:r>
          </a:p>
          <a:p>
            <a:pPr>
              <a:spcAft>
                <a:spcPts val="400"/>
              </a:spcAft>
              <a:defRPr sz="1400" b="1">
                <a:solidFill>
                  <a:srgbClr val="D2991D"/>
                </a:solidFill>
              </a:defRPr>
            </a:pPr>
            <a:r>
              <a:t>En microservicios modernos: REST/gRPC para respuestas inmediatas + broker para desacople y escalabilidad.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C9D1D9"/>
                </a:solidFill>
              </a:defRPr>
            </a:pPr>
            <a:r>
              <a:t>¿Y si esto fuera producción?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8B949E"/>
                </a:solidFill>
              </a:defRPr>
            </a:pPr>
            <a:r>
              <a:t>Lo que construimos es el motor. En producción se le agrega carrocería, pero el motor no cambia.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49E"/>
                </a:solidFill>
              </a:defRPr>
            </a:pPr>
            <a:r>
              <a:t>Broker de Mensajería — Arquitectura de Software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B949E"/>
                </a:solidFill>
              </a:defRPr>
            </a:pPr>
            <a:r>
              <a:t>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1645920"/>
          <a:ext cx="103327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7017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58A6FF"/>
                          </a:solidFill>
                        </a:defRPr>
                      </a:pPr>
                      <a:r>
                        <a:t>Hoy (curso)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58A6FF"/>
                          </a:solidFill>
                        </a:defRPr>
                      </a:pPr>
                      <a:r>
                        <a:t>Mañana (producción)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58A6FF"/>
                          </a:solidFill>
                        </a:defRPr>
                      </a:pPr>
                      <a:r>
                        <a:t>¿Por qué?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D2991D"/>
                          </a:solidFill>
                        </a:defRPr>
                      </a:pPr>
                      <a:r>
                        <a:t>1 solo broker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FB950"/>
                          </a:solidFill>
                        </a:defRPr>
                      </a:pPr>
                      <a:r>
                        <a:t>Cluster con Raft/Paxos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8B949E"/>
                          </a:solidFill>
                        </a:defRPr>
                      </a:pPr>
                      <a:r>
                        <a:t>Alta disponibilidad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D2991D"/>
                          </a:solidFill>
                        </a:defRPr>
                      </a:pPr>
                      <a:r>
                        <a:t>Sin autenticación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FB950"/>
                          </a:solidFill>
                        </a:defRPr>
                      </a:pPr>
                      <a:r>
                        <a:t>TLS + JWT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8B949E"/>
                          </a:solidFill>
                        </a:defRPr>
                      </a:pPr>
                      <a:r>
                        <a:t>Seguridad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D2991D"/>
                          </a:solidFill>
                        </a:defRPr>
                      </a:pPr>
                      <a:r>
                        <a:t>JSON en texto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FB950"/>
                          </a:solidFill>
                        </a:defRPr>
                      </a:pPr>
                      <a:r>
                        <a:t>Protobuf / Avro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8B949E"/>
                          </a:solidFill>
                        </a:defRPr>
                      </a:pPr>
                      <a:r>
                        <a:t>Compresión + esquema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D2991D"/>
                          </a:solidFill>
                        </a:defRPr>
                      </a:pPr>
                      <a:r>
                        <a:t>Sin garantía (at-most-once)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FB950"/>
                          </a:solidFill>
                        </a:defRPr>
                      </a:pPr>
                      <a:r>
                        <a:t>ACK + reintentos + DLQ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8B949E"/>
                          </a:solidFill>
                        </a:defRPr>
                      </a:pPr>
                      <a:r>
                        <a:t>Confiabilidad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D2991D"/>
                          </a:solidFill>
                        </a:defRPr>
                      </a:pPr>
                      <a:r>
                        <a:t>Suscriptores offline pierden mensajes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FB950"/>
                          </a:solidFill>
                        </a:defRPr>
                      </a:pPr>
                      <a:r>
                        <a:t>Offset por suscriptor (Kafka)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8B949E"/>
                          </a:solidFill>
                        </a:defRPr>
                      </a:pPr>
                      <a:r>
                        <a:t>Durabilidad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701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D2991D"/>
                          </a:solidFill>
                        </a:defRPr>
                      </a:pPr>
                      <a:r>
                        <a:t>Sin monitoreo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FB950"/>
                          </a:solidFill>
                        </a:defRPr>
                      </a:pPr>
                      <a:r>
                        <a:t>API REST + dashboard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8B949E"/>
                          </a:solidFill>
                        </a:defRPr>
                      </a:pPr>
                      <a:r>
                        <a:t>Observabilidad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C9D1D9"/>
                </a:solidFill>
              </a:defRPr>
            </a:pPr>
            <a:r>
              <a:t>¿Qué aprendimos?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49E"/>
                </a:solidFill>
              </a:defRPr>
            </a:pPr>
            <a:r>
              <a:t>Broker de Mensajería — Arquitectura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B949E"/>
                </a:solidFill>
              </a:defRPr>
            </a:pPr>
            <a:r>
              <a:t>12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737360"/>
            <a:ext cx="548640" cy="54864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000" b="1">
                <a:solidFill>
                  <a:srgbClr val="C9D1D9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645920"/>
            <a:ext cx="96926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C9D1D9"/>
                </a:solidFill>
              </a:defRPr>
            </a:pPr>
            <a:r>
              <a:t>Un broker no es magia</a:t>
            </a:r>
          </a:p>
          <a:p>
            <a:pPr>
              <a:spcAft>
                <a:spcPts val="400"/>
              </a:spcAft>
              <a:defRPr sz="1600" b="0">
                <a:solidFill>
                  <a:srgbClr val="C9D1D9"/>
                </a:solidFill>
              </a:defRPr>
            </a:pPr>
            <a:r>
              <a:t>Es un bucle que recibe, busca en un diccionario, y reenvía.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697480"/>
            <a:ext cx="548640" cy="54864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000" b="1">
                <a:solidFill>
                  <a:srgbClr val="C9D1D9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606040"/>
            <a:ext cx="96926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C9D1D9"/>
                </a:solidFill>
              </a:defRPr>
            </a:pPr>
            <a:r>
              <a:t>El protocolo es el contrato</a:t>
            </a:r>
          </a:p>
          <a:p>
            <a:pPr>
              <a:spcAft>
                <a:spcPts val="400"/>
              </a:spcAft>
              <a:defRPr sz="1600" b="0">
                <a:solidFill>
                  <a:srgbClr val="C9D1D9"/>
                </a:solidFill>
              </a:defRPr>
            </a:pPr>
            <a:r>
              <a:t>Si cliente y servidor hablan el mismo formato de bytes, todo funciona.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657600"/>
            <a:ext cx="548640" cy="548640"/>
          </a:xfrm>
          <a:prstGeom prst="ellipse">
            <a:avLst/>
          </a:prstGeom>
          <a:solidFill>
            <a:srgbClr val="D299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000" b="1">
                <a:solidFill>
                  <a:srgbClr val="C9D1D9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566160"/>
            <a:ext cx="96926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C9D1D9"/>
                </a:solidFill>
              </a:defRPr>
            </a:pPr>
            <a:r>
              <a:t>I/O no bloqueante &gt; threads</a:t>
            </a:r>
          </a:p>
          <a:p>
            <a:pPr>
              <a:spcAft>
                <a:spcPts val="400"/>
              </a:spcAft>
              <a:defRPr sz="1600" b="0">
                <a:solidFill>
                  <a:srgbClr val="C9D1D9"/>
                </a:solidFill>
              </a:defRPr>
            </a:pPr>
            <a:r>
              <a:t>Con selectors, 400 líneas de Python manejan cientos de conexiones.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4617720"/>
            <a:ext cx="548640" cy="548640"/>
          </a:xfrm>
          <a:prstGeom prst="ellipse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000" b="1">
                <a:solidFill>
                  <a:srgbClr val="C9D1D9"/>
                </a:solidFill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526280"/>
            <a:ext cx="96926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C9D1D9"/>
                </a:solidFill>
              </a:defRPr>
            </a:pPr>
            <a:r>
              <a:t>Pub/Sub desacopla</a:t>
            </a:r>
          </a:p>
          <a:p>
            <a:pPr>
              <a:spcAft>
                <a:spcPts val="400"/>
              </a:spcAft>
              <a:defRPr sz="1600" b="0">
                <a:solidFill>
                  <a:srgbClr val="C9D1D9"/>
                </a:solidFill>
              </a:defRPr>
            </a:pPr>
            <a:r>
              <a:t>El publicador no sabe si hay 0 o 1000 suscriptores.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5577840"/>
            <a:ext cx="548640" cy="548640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000" b="1">
                <a:solidFill>
                  <a:srgbClr val="C9D1D9"/>
                </a:solidFill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5486400"/>
            <a:ext cx="96926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C9D1D9"/>
                </a:solidFill>
              </a:defRPr>
            </a:pPr>
            <a:r>
              <a:t>Persistencia simple = trazabilidad</a:t>
            </a:r>
          </a:p>
          <a:p>
            <a:pPr>
              <a:spcAft>
                <a:spcPts val="400"/>
              </a:spcAft>
              <a:defRPr sz="1600" b="0">
                <a:solidFill>
                  <a:srgbClr val="C9D1D9"/>
                </a:solidFill>
              </a:defRPr>
            </a:pPr>
            <a:r>
              <a:t>Un .jsonl que abrís con Notepad ya te da auditoría.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560320"/>
            <a:ext cx="12191695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200" b="1">
                <a:solidFill>
                  <a:srgbClr val="C9D1D9"/>
                </a:solidFill>
              </a:defRPr>
            </a:pPr>
            <a:r>
              <a:t>¿Preguntas?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8B949E"/>
                </a:solidFill>
              </a:defRPr>
            </a:pPr>
            <a:r>
              <a:t>Código: arquitectura_t4/</a:t>
            </a:r>
          </a:p>
          <a:p>
            <a:pPr>
              <a:spcAft>
                <a:spcPts val="400"/>
              </a:spcAft>
              <a:defRPr sz="1800" b="0">
                <a:solidFill>
                  <a:srgbClr val="8B949E"/>
                </a:solidFill>
              </a:defRPr>
            </a:pPr>
            <a:r>
              <a:t>Demo: python -m examples.demo</a:t>
            </a:r>
          </a:p>
          <a:p>
            <a:pPr>
              <a:spcAft>
                <a:spcPts val="400"/>
              </a:spcAft>
              <a:defRPr sz="1800" b="0">
                <a:solidFill>
                  <a:srgbClr val="8B949E"/>
                </a:solidFill>
              </a:defRPr>
            </a:pPr>
            <a:r>
              <a:t>Guía interactiva: abrir guia.html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1206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3FB950"/>
                </a:solidFill>
              </a:defRPr>
            </a:pPr>
            <a:r>
              <a:t>Gerónimo Jara Javier</a:t>
            </a:r>
          </a:p>
          <a:p>
            <a:pPr>
              <a:spcAft>
                <a:spcPts val="400"/>
              </a:spcAft>
              <a:defRPr sz="1600" b="0">
                <a:solidFill>
                  <a:srgbClr val="3FB950"/>
                </a:solidFill>
              </a:defRPr>
            </a:pPr>
            <a:r>
              <a:t>Jurado Flores Juan Diego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1336</Words>
  <Application>Microsoft Office PowerPoint</Application>
  <PresentationFormat>Panorámica</PresentationFormat>
  <Paragraphs>244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Javier Geronimo</cp:lastModifiedBy>
  <cp:revision>3</cp:revision>
  <dcterms:created xsi:type="dcterms:W3CDTF">2013-01-27T09:14:16Z</dcterms:created>
  <dcterms:modified xsi:type="dcterms:W3CDTF">2026-07-02T03:46:23Z</dcterms:modified>
  <cp:category/>
</cp:coreProperties>
</file>